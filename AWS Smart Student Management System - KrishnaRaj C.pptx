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Maven Pro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MavenPro-bold.fntdata"/><Relationship Id="rId27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SLIDES_API214704872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SLIDES_API21470487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SLIDES_API2147048726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SLIDES_API214704872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SLIDES_API214704872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SLIDES_API214704872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SLIDES_API2147048726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SLIDES_API2147048726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SLIDES_API2147048726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SLIDES_API2147048726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SLIDES_API2147048726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SLIDES_API214704872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SLIDES_API2147048726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SLIDES_API2147048726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SLIDES_API2147048726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SLIDES_API214704872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SLIDES_API2147048726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SLIDES_API2147048726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SLIDES_API2147048726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SLIDES_API2147048726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SLIDES_API2147048726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SLIDES_API2147048726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SLIDES_API2147048726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SLIDES_API2147048726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SLIDES_API2147048726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SLIDES_API2147048726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SLIDES_API2147048726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SLIDES_API2147048726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SLIDES_API2147048726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SLIDES_API2147048726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SLIDES_API2147048726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SLIDES_API2147048726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SLIDES_API2147048726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SLIDES_API2147048726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93454"/>
                </a:solidFill>
              </a:rPr>
              <a:t>AWS Smart Student Management System</a:t>
            </a:r>
            <a:endParaRPr b="1" sz="2800">
              <a:solidFill>
                <a:srgbClr val="193454"/>
              </a:solidFill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533400" y="1587500"/>
            <a:ext cx="8064600" cy="29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03B49"/>
                </a:solidFill>
              </a:rPr>
              <a:t>Presented by: KrishnaRaj C.</a:t>
            </a:r>
            <a:endParaRPr sz="22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03B49"/>
                </a:solidFill>
              </a:rPr>
              <a:t>Python | Flask | AWS Cloud</a:t>
            </a:r>
            <a:endParaRPr sz="2200">
              <a:solidFill>
                <a:srgbClr val="303B49"/>
              </a:solidFill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533400" y="1143000"/>
            <a:ext cx="8001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9900"/>
                </a:solidFill>
              </a:rPr>
              <a:t>CLOUD COMPUTING • PROJECT</a:t>
            </a:r>
            <a:endParaRPr b="1" sz="1200">
              <a:solidFill>
                <a:srgbClr val="FF9900"/>
              </a:solidFill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1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Introduction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A web application for managing student information.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Supports creating, viewing, updating, and deleting records.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Includes student document upload and data validation workflows.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Uses Python and Flask with an AWS-oriented architecture.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2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Problem Statement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Manual records can be difficult to maintain.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Student documents may be scattered across locations.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Validation and data updates can consume time.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Monitoring and access control are important for cloud applications.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Solution: a structured web application with cloud-service integration.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3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Scope and Features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Student CRUD operations.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Browser-based user interface.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Document upload workflow.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Student validation API.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AWS services in scope: EC2, S3, Lambda, SNS, CloudWatch, IAM and VPC.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4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Existing System vs Proposed System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Existing: manual or disconnected student records.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Proposed: centralized web interface.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Existing: local or scattered document storage.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Proposed: S3-based storage design with access controls.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Proposed architecture can add monitoring, serverless validation and cloud security.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313" name="Google Shape;313;p17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5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AWS System Architecture</a:t>
            </a:r>
            <a:endParaRPr b="1" sz="2400">
              <a:solidFill>
                <a:srgbClr val="193454"/>
              </a:solidFill>
            </a:endParaRPr>
          </a:p>
        </p:txBody>
      </p:sp>
      <p:grpSp>
        <p:nvGrpSpPr>
          <p:cNvPr id="320" name="Google Shape;320;p18"/>
          <p:cNvGrpSpPr/>
          <p:nvPr/>
        </p:nvGrpSpPr>
        <p:grpSpPr>
          <a:xfrm>
            <a:off x="423863" y="904875"/>
            <a:ext cx="8296200" cy="3405263"/>
            <a:chOff x="423863" y="904875"/>
            <a:chExt cx="8296200" cy="3405263"/>
          </a:xfrm>
        </p:grpSpPr>
        <p:sp>
          <p:nvSpPr>
            <p:cNvPr id="321" name="Google Shape;321;p18"/>
            <p:cNvSpPr/>
            <p:nvPr/>
          </p:nvSpPr>
          <p:spPr>
            <a:xfrm>
              <a:off x="2667000" y="904875"/>
              <a:ext cx="3810000" cy="457200"/>
            </a:xfrm>
            <a:prstGeom prst="roundRect">
              <a:avLst>
                <a:gd fmla="val 16666" name="adj"/>
              </a:avLst>
            </a:prstGeom>
            <a:solidFill>
              <a:srgbClr val="FFFFFF"/>
            </a:solidFill>
            <a:ln cap="flat" cmpd="sng" w="19050">
              <a:solidFill>
                <a:srgbClr val="2378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8"/>
            <p:cNvSpPr txBox="1"/>
            <p:nvPr/>
          </p:nvSpPr>
          <p:spPr>
            <a:xfrm>
              <a:off x="2667000" y="904875"/>
              <a:ext cx="3810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93454"/>
                  </a:solidFill>
                  <a:latin typeface="Arial"/>
                  <a:ea typeface="Arial"/>
                  <a:cs typeface="Arial"/>
                  <a:sym typeface="Arial"/>
                </a:rPr>
                <a:t>USER / WEB BROWSER</a:t>
              </a:r>
              <a:endParaRPr b="1" sz="1300">
                <a:solidFill>
                  <a:srgbClr val="19345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4524375" y="1362075"/>
              <a:ext cx="95400" cy="2382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15200"/>
                  </a:lnTo>
                  <a:moveTo>
                    <a:pt x="0" y="91200"/>
                  </a:moveTo>
                  <a:lnTo>
                    <a:pt x="60000" y="120000"/>
                  </a:lnTo>
                  <a:lnTo>
                    <a:pt x="120000" y="912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378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8"/>
            <p:cNvSpPr/>
            <p:nvPr/>
          </p:nvSpPr>
          <p:spPr>
            <a:xfrm>
              <a:off x="1905000" y="1619250"/>
              <a:ext cx="5334000" cy="609600"/>
            </a:xfrm>
            <a:prstGeom prst="roundRect">
              <a:avLst>
                <a:gd fmla="val 12500" name="adj"/>
              </a:avLst>
            </a:prstGeom>
            <a:solidFill>
              <a:srgbClr val="19345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8"/>
            <p:cNvSpPr txBox="1"/>
            <p:nvPr/>
          </p:nvSpPr>
          <p:spPr>
            <a:xfrm>
              <a:off x="1905000" y="1619250"/>
              <a:ext cx="5334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AMAZON EC2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D0E1F9"/>
                  </a:solidFill>
                  <a:latin typeface="Arial"/>
                  <a:ea typeface="Arial"/>
                  <a:cs typeface="Arial"/>
                  <a:sym typeface="Arial"/>
                </a:rPr>
                <a:t>Python Flask application and REST APIs</a:t>
              </a:r>
              <a:endParaRPr b="0" sz="1100">
                <a:solidFill>
                  <a:srgbClr val="D0E1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1352550" y="2228850"/>
              <a:ext cx="6438900" cy="3621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56842"/>
                  </a:lnTo>
                  <a:moveTo>
                    <a:pt x="0" y="56842"/>
                  </a:moveTo>
                  <a:lnTo>
                    <a:pt x="120000" y="56842"/>
                  </a:lnTo>
                  <a:moveTo>
                    <a:pt x="0" y="56842"/>
                  </a:moveTo>
                  <a:lnTo>
                    <a:pt x="0" y="120000"/>
                  </a:lnTo>
                  <a:moveTo>
                    <a:pt x="39941" y="56842"/>
                  </a:moveTo>
                  <a:lnTo>
                    <a:pt x="39941" y="120000"/>
                  </a:lnTo>
                  <a:moveTo>
                    <a:pt x="79882" y="56842"/>
                  </a:moveTo>
                  <a:lnTo>
                    <a:pt x="79882" y="120000"/>
                  </a:lnTo>
                  <a:moveTo>
                    <a:pt x="120000" y="56842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2378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428625" y="2619375"/>
              <a:ext cx="18573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14300">
              <a:solidFill>
                <a:srgbClr val="D0E1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428625" y="2619375"/>
              <a:ext cx="1857300" cy="57300"/>
            </a:xfrm>
            <a:prstGeom prst="roundRect">
              <a:avLst>
                <a:gd fmla="val 50000" name="adj"/>
              </a:avLst>
            </a:prstGeom>
            <a:solidFill>
              <a:srgbClr val="2378B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8"/>
            <p:cNvSpPr txBox="1"/>
            <p:nvPr/>
          </p:nvSpPr>
          <p:spPr>
            <a:xfrm>
              <a:off x="428625" y="2714625"/>
              <a:ext cx="1857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93454"/>
                  </a:solidFill>
                  <a:latin typeface="Arial"/>
                  <a:ea typeface="Arial"/>
                  <a:cs typeface="Arial"/>
                  <a:sym typeface="Arial"/>
                </a:rPr>
                <a:t>S3</a:t>
              </a:r>
              <a:endParaRPr b="1" sz="1400">
                <a:solidFill>
                  <a:srgbClr val="19345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56B82"/>
                  </a:solidFill>
                  <a:latin typeface="Arial"/>
                  <a:ea typeface="Arial"/>
                  <a:cs typeface="Arial"/>
                  <a:sym typeface="Arial"/>
                </a:rPr>
                <a:t>Documents</a:t>
              </a:r>
              <a:endParaRPr sz="1100">
                <a:solidFill>
                  <a:srgbClr val="556B8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8"/>
            <p:cNvSpPr/>
            <p:nvPr/>
          </p:nvSpPr>
          <p:spPr>
            <a:xfrm>
              <a:off x="2571750" y="2619375"/>
              <a:ext cx="18573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14300">
              <a:solidFill>
                <a:srgbClr val="D0E1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2571750" y="2619375"/>
              <a:ext cx="1857300" cy="57300"/>
            </a:xfrm>
            <a:prstGeom prst="roundRect">
              <a:avLst>
                <a:gd fmla="val 50000" name="adj"/>
              </a:avLst>
            </a:prstGeom>
            <a:solidFill>
              <a:srgbClr val="2378B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8"/>
            <p:cNvSpPr txBox="1"/>
            <p:nvPr/>
          </p:nvSpPr>
          <p:spPr>
            <a:xfrm>
              <a:off x="2571750" y="2714625"/>
              <a:ext cx="1857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93454"/>
                  </a:solidFill>
                  <a:latin typeface="Arial"/>
                  <a:ea typeface="Arial"/>
                  <a:cs typeface="Arial"/>
                  <a:sym typeface="Arial"/>
                </a:rPr>
                <a:t>Lambda</a:t>
              </a:r>
              <a:endParaRPr b="1" sz="1400">
                <a:solidFill>
                  <a:srgbClr val="19345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56B82"/>
                  </a:solidFill>
                  <a:latin typeface="Arial"/>
                  <a:ea typeface="Arial"/>
                  <a:cs typeface="Arial"/>
                  <a:sym typeface="Arial"/>
                </a:rPr>
                <a:t>Validation</a:t>
              </a:r>
              <a:endParaRPr sz="1100">
                <a:solidFill>
                  <a:srgbClr val="556B8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8"/>
            <p:cNvSpPr/>
            <p:nvPr/>
          </p:nvSpPr>
          <p:spPr>
            <a:xfrm>
              <a:off x="4714875" y="2619375"/>
              <a:ext cx="18573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14300">
              <a:solidFill>
                <a:srgbClr val="D0E1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8"/>
            <p:cNvSpPr/>
            <p:nvPr/>
          </p:nvSpPr>
          <p:spPr>
            <a:xfrm>
              <a:off x="4714875" y="2619375"/>
              <a:ext cx="1857300" cy="57300"/>
            </a:xfrm>
            <a:prstGeom prst="roundRect">
              <a:avLst>
                <a:gd fmla="val 50000" name="adj"/>
              </a:avLst>
            </a:prstGeom>
            <a:solidFill>
              <a:srgbClr val="2378B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8"/>
            <p:cNvSpPr txBox="1"/>
            <p:nvPr/>
          </p:nvSpPr>
          <p:spPr>
            <a:xfrm>
              <a:off x="4714875" y="2714625"/>
              <a:ext cx="1857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93454"/>
                  </a:solidFill>
                  <a:latin typeface="Arial"/>
                  <a:ea typeface="Arial"/>
                  <a:cs typeface="Arial"/>
                  <a:sym typeface="Arial"/>
                </a:rPr>
                <a:t>SNS</a:t>
              </a:r>
              <a:endParaRPr b="1" sz="1400">
                <a:solidFill>
                  <a:srgbClr val="19345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56B82"/>
                  </a:solidFill>
                  <a:latin typeface="Arial"/>
                  <a:ea typeface="Arial"/>
                  <a:cs typeface="Arial"/>
                  <a:sym typeface="Arial"/>
                </a:rPr>
                <a:t>Alerts</a:t>
              </a:r>
              <a:endParaRPr sz="1100">
                <a:solidFill>
                  <a:srgbClr val="556B8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6858000" y="2619375"/>
              <a:ext cx="1857300" cy="904800"/>
            </a:xfrm>
            <a:prstGeom prst="roundRect">
              <a:avLst>
                <a:gd fmla="val 8421" name="adj"/>
              </a:avLst>
            </a:prstGeom>
            <a:solidFill>
              <a:srgbClr val="FFFFFF"/>
            </a:solidFill>
            <a:ln cap="flat" cmpd="sng" w="14300">
              <a:solidFill>
                <a:srgbClr val="D0E1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6858000" y="2619375"/>
              <a:ext cx="1857300" cy="57300"/>
            </a:xfrm>
            <a:prstGeom prst="roundRect">
              <a:avLst>
                <a:gd fmla="val 50000" name="adj"/>
              </a:avLst>
            </a:prstGeom>
            <a:solidFill>
              <a:srgbClr val="2378B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8"/>
            <p:cNvSpPr txBox="1"/>
            <p:nvPr/>
          </p:nvSpPr>
          <p:spPr>
            <a:xfrm>
              <a:off x="6858000" y="2714625"/>
              <a:ext cx="1857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93454"/>
                  </a:solidFill>
                  <a:latin typeface="Arial"/>
                  <a:ea typeface="Arial"/>
                  <a:cs typeface="Arial"/>
                  <a:sym typeface="Arial"/>
                </a:rPr>
                <a:t>CloudWatch</a:t>
              </a:r>
              <a:endParaRPr b="1" sz="1400">
                <a:solidFill>
                  <a:srgbClr val="19345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56B82"/>
                  </a:solidFill>
                  <a:latin typeface="Arial"/>
                  <a:ea typeface="Arial"/>
                  <a:cs typeface="Arial"/>
                  <a:sym typeface="Arial"/>
                </a:rPr>
                <a:t>Logs/Metrics</a:t>
              </a:r>
              <a:endParaRPr sz="1100">
                <a:solidFill>
                  <a:srgbClr val="556B8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9" name="Google Shape;33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3863" y="3805238"/>
              <a:ext cx="8296200" cy="504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18"/>
            <p:cNvSpPr txBox="1"/>
            <p:nvPr/>
          </p:nvSpPr>
          <p:spPr>
            <a:xfrm>
              <a:off x="428625" y="3810000"/>
              <a:ext cx="82869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93454"/>
                  </a:solidFill>
                  <a:latin typeface="Arial"/>
                  <a:ea typeface="Arial"/>
                  <a:cs typeface="Arial"/>
                  <a:sym typeface="Arial"/>
                </a:rPr>
                <a:t>IAM, VPC and security groups control permissions and network access.</a:t>
              </a:r>
              <a:endParaRPr b="1" sz="1100">
                <a:solidFill>
                  <a:srgbClr val="19345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18"/>
          <p:cNvSpPr txBox="1"/>
          <p:nvPr/>
        </p:nvSpPr>
        <p:spPr>
          <a:xfrm>
            <a:off x="431800" y="4714875"/>
            <a:ext cx="8255100" cy="2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378BE"/>
                </a:solidFill>
                <a:latin typeface="Arial"/>
                <a:ea typeface="Arial"/>
                <a:cs typeface="Arial"/>
                <a:sym typeface="Arial"/>
              </a:rPr>
              <a:t>AWS Smart Student Management System | KrishnaRaj C. | 6 / 17</a:t>
            </a:r>
            <a:endParaRPr b="0" sz="900">
              <a:solidFill>
                <a:srgbClr val="2378B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"/>
          <p:cNvSpPr/>
          <p:nvPr/>
        </p:nvSpPr>
        <p:spPr>
          <a:xfrm>
            <a:off x="5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255800" y="281350"/>
            <a:ext cx="82551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Technology Stack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444500" y="720975"/>
            <a:ext cx="8064600" cy="3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Python — application programming language.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Flask — web framework and REST APIs.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HTML — page structure.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CSS — interface styling.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JavaScript — front-end interactions.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Amazon EC2 — compute and hosting.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Amazon S3 — object storage.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AWS Lambda — serverless validation.</a:t>
            </a:r>
            <a:endParaRPr sz="1600">
              <a:solidFill>
                <a:srgbClr val="303B4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03B49"/>
              </a:buClr>
              <a:buSzPts val="1600"/>
              <a:buChar char="●"/>
            </a:pPr>
            <a:r>
              <a:rPr lang="en" sz="1600">
                <a:solidFill>
                  <a:srgbClr val="303B49"/>
                </a:solidFill>
              </a:rPr>
              <a:t>SNS, CloudWatch, IAM and VPC — notifications, monitoring and security.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7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System Modules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356" name="Google Shape;356;p20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Student Management — CRUD operations.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Document Management — upload and file references.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Validation — validate submitted student data.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Cloud Integration — communicate with configured AWS services.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Security — identities, roles and network controls.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Monitoring — logs, metrics and notifications.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8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Student CRUD Operations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CREATE — POST /students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READ — GET /students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UPDATE — PUT /students/&lt;student_id&gt;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DELETE — DELETE /students/&lt;student_id&gt;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Workflow: browser request → Flask API → processing → response.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Database persistence should match the implementation in the project code.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9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Document Upload with Amazon S3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1. User selects a document.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2. Flask receives the upload request.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3. Validate file type and size.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4. Upload the file to a configured S3 bucket.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5. Store or return the document reference.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Security: keep the bucket private and restrict access using IAM.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10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AWS Lambda Validation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380" name="Google Shape;380;p23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Endpoint: POST /validate-student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1. Browser submits student information.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2. Flask receives the request.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3. Flask invokes the configured Lambda function.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4. Lambda applies validation rules.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5. The result is returned to the application.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Use CloudWatch logs to investigate errors.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381" name="Google Shape;381;p23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11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SNS Notifications and CloudWatch Monitoring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388" name="Google Shape;388;p24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Amazon SNS: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• Publishes messages to subscribed endpoints.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• Can notify administrators about selected events.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Amazon CloudWatch: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• Collects supported logs and metrics.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• Supports alarms and troubleshooting.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These capabilities require service configuration and permissions.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389" name="Google Shape;389;p24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12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5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Security: IAM, VPC and Security Groups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396" name="Google Shape;396;p25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IAM: least-privilege policies and EC2 instance roles.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VPC: logically isolated cloud network.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Security groups: control permitted network traffic.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Restrict SSH access to trusted sources.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Keep .env files and AWS credentials out of GitHub.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Use HTTPS and protect student documents in production.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397" name="Google Shape;397;p25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13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6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6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Deployment on Amazon EC2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404" name="Google Shape;404;p26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1. Launch EC2 and configure networking.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2. Connect securely to the instance.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3. Install Python and Git.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4. Clone the application repository.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5. Install dependencies and configure environment variables.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6. Start the application and test the endpoints.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Production recommendation: Gunicorn, a reverse proxy and HTTPS.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405" name="Google Shape;405;p26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14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7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7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Testing and Troubleshooting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412" name="Google Shape;412;p27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Test student creation and retrieval.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Test updating and deleting records.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Test valid and invalid document uploads.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Test Lambda validation responses.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403 AccessDenied: inspect IAM and bucket policies.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Connection timeout: inspect security groups and routing.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Record actual test results; do not assume tests passed.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413" name="Google Shape;413;p27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15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8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8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Results and Future Enhancements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420" name="Google Shape;420;p28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Project demonstrates student CRUD API workflows.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Provides a document upload and validation design.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Future: authentication and role-based access.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Future: Amazon RDS integration.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Future: CI/CD automation and Terraform.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Future: backups, audit trails and monitoring dashboards.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421" name="Google Shape;421;p28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16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E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9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2378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9"/>
          <p:cNvSpPr txBox="1"/>
          <p:nvPr/>
        </p:nvSpPr>
        <p:spPr>
          <a:xfrm>
            <a:off x="431800" y="342900"/>
            <a:ext cx="825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93454"/>
                </a:solidFill>
              </a:rPr>
              <a:t>Conclusion and Q&amp;A</a:t>
            </a:r>
            <a:endParaRPr b="1" sz="2400">
              <a:solidFill>
                <a:srgbClr val="193454"/>
              </a:solidFill>
            </a:endParaRPr>
          </a:p>
        </p:txBody>
      </p:sp>
      <p:sp>
        <p:nvSpPr>
          <p:cNvPr id="428" name="Google Shape;428;p29"/>
          <p:cNvSpPr txBox="1"/>
          <p:nvPr/>
        </p:nvSpPr>
        <p:spPr>
          <a:xfrm>
            <a:off x="533400" y="1333500"/>
            <a:ext cx="80646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The project demonstrates a Python Flask student management application.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AWS services can extend storage, validation, monitoring and security.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Actual integrations should be verified and demonstrated.</a:t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03B4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3B49"/>
                </a:solidFill>
              </a:rPr>
              <a:t>                                                         THANK YOU!</a:t>
            </a:r>
            <a:endParaRPr sz="1600">
              <a:solidFill>
                <a:srgbClr val="303B49"/>
              </a:solidFill>
            </a:endParaRPr>
          </a:p>
        </p:txBody>
      </p:sp>
      <p:sp>
        <p:nvSpPr>
          <p:cNvPr id="429" name="Google Shape;429;p29"/>
          <p:cNvSpPr txBox="1"/>
          <p:nvPr/>
        </p:nvSpPr>
        <p:spPr>
          <a:xfrm>
            <a:off x="444500" y="6223000"/>
            <a:ext cx="8255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378BE"/>
                </a:solidFill>
              </a:rPr>
              <a:t>AWS Smart Student Management System  |  KrishnaRaj C.  |  17 / 17</a:t>
            </a:r>
            <a:endParaRPr sz="900">
              <a:solidFill>
                <a:srgbClr val="2378B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